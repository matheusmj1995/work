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e orientação extraídas do manual fornecido. Referência: slide 10. Verificar o comportamento no ambiente durante a homologação.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e orientação extraídas do manual fornecido. Referência: slide 10. Verificar o comportamento no ambiente durante a homologação.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e orientação extraídas do manual fornecido. Referência: slide 12. Verificar o comportamento no ambiente durante a homologação.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e orientação extraídas do manual fornecido. Referência: slide 12. Verificar o comportamento no ambiente durante a homologação.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e orientação extraídas do manual fornecido. Referência: slide 15. Verificar o comportamento no ambiente durante a homologação.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e orientação extraídas do manual fornecido. Referência: slide 15. Verificar o comportamento no ambiente durante a homologação.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e orientação extraídas do manual fornecido. Referência: slide 16. Verificar o comportamento no ambiente durante a homologação.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e orientação extraídas do manual fornecido. Referência: slide 16. Verificar o comportamento no ambiente durante a homologação.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e orientação extraídas do manual fornecido. Referência: slide 18. Verificar o comportamento no ambiente durante a homologação.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e orientação extraídas do manual fornecido. Referência: slide 20. Verificar o comportamento no ambiente durante a homologação.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e orientação extraídas do manual fornecido. Referência: slide 20. Verificar o comportamento no ambiente durante a homologação.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e orientação extraídas do manual fornecido. Referência: slide 22. Verificar o comportamento no ambiente durante a homologação.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e orientação extraídas do manual fornecido. Referência: slide 22. Verificar o comportamento no ambiente durante a homologação.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e orientação extraídas do manual fornecido. Referência: slide 24. Verificar o comportamento no ambiente durante a homologação.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e orientação extraídas do manual fornecido. Referência: slide 24. Verificar o comportamento no ambiente durante a homologação.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e orientação extraídas do manual fornecido. Referência: slide 26. Verificar o comportamento no ambiente durante a homologação.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e orientação extraídas do manual fornecido. Referência: slide 26. Verificar o comportamento no ambiente durante a homologação.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e orientação extraídas do manual fornecido. Referência: slide 28. Verificar o comportamento no ambiente durante a homologação.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e orientação extraídas do manual fornecido. Referência: slide 30. Verificar o comportamento no ambiente durante a homologação.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e orientação extraídas do manual fornecido. Referência: slide 32. Verificar o comportamento no ambiente durante a homologação.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e orientação extraídas do manual fornecido. Referência: slide 32. Verificar o comportamento no ambiente durante a homologação.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e orientação extraídas do manual fornecido. Referência: slide 33. Verificar o comportamento no ambiente durante a homologação.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e orientação extraídas do manual fornecido. Referência: slide 33. Verificar o comportamento no ambiente durante a homologação.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2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GUIA DO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Diário Oficial do CGIBS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737360"/>
            <a:ext cx="12191695" cy="4526280"/>
          </a:xfrm>
          <a:prstGeom prst="rect">
            <a:avLst/>
          </a:prstGeom>
          <a:solidFill>
            <a:srgbClr val="151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91440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4400" b="1">
                <a:solidFill>
                  <a:srgbClr val="FFFFFF"/>
                </a:solidFill>
                <a:latin typeface="Aptos"/>
              </a:defRPr>
            </a:pPr>
            <a:r>
              <a:t>Manual de</a:t>
            </a:r>
          </a:p>
          <a:p>
            <a:pPr>
              <a:spcAft>
                <a:spcPts val="900"/>
              </a:spcAft>
              <a:defRPr sz="4400" b="1">
                <a:solidFill>
                  <a:srgbClr val="FFFFFF"/>
                </a:solidFill>
                <a:latin typeface="Aptos"/>
              </a:defRPr>
            </a:pPr>
            <a:r>
              <a:t>homologação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34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Da montagem da edição à consulta no Portal Público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77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6B9FF"/>
                </a:solidFill>
                <a:latin typeface="Aptos"/>
              </a:defRPr>
            </a:pPr>
            <a:r>
              <a:t>Gestão de Legislação  •  OS 020/2026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COMECE AQUI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Um roteiro para executar e conferir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77255" cy="1773935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47672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01  Preparar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69464"/>
            <a:ext cx="5111495" cy="8778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Confirme o perfil, o ambiente e a massa de dados de cada cenário.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3" y="1783080"/>
            <a:ext cx="5477255" cy="1773935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3" y="1947672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02  Operar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3" y="2569464"/>
            <a:ext cx="5111495" cy="8778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Siga as telas de montagem, análise e publicação.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58183"/>
            <a:ext cx="5477255" cy="1773935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22775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03  Validar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44568"/>
            <a:ext cx="5111495" cy="8778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Compare o comportamento observado com a planilha de critérios de aceite.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3" y="3758183"/>
            <a:ext cx="5477255" cy="1773935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3" y="3922775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04  Registrar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3" y="4544568"/>
            <a:ext cx="5111495" cy="8778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Preencha a validação e associe evidências ao ID do cenário.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715000"/>
            <a:ext cx="11155680" cy="502920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15163F"/>
                </a:solidFill>
                <a:latin typeface="Aptos"/>
              </a:defRPr>
            </a:pPr>
            <a:r>
              <a:t>Este manual orienta a execução; não comprova que os cenários já foram aprovados.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NAVEGAÇÃO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O que você encontrará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77255" cy="2093976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47672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Preparação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69464"/>
            <a:ext cx="5111495" cy="119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Papéis, acesso ao BackOffice e norma aprovada.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3" y="1783080"/>
            <a:ext cx="5477255" cy="2093976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3" y="1947672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Montagem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3" y="2569464"/>
            <a:ext cx="5111495" cy="119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Seção, atos, publicação imediata ou agendada e solicitação de aprovação.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078224"/>
            <a:ext cx="5477255" cy="2093976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42816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Análise e publicação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64608"/>
            <a:ext cx="5111495" cy="119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Devolução, edição pelo Gestor, aprovação, agendamento e edição extra.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3" y="4078224"/>
            <a:ext cx="5477255" cy="2093976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3" y="4242816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Consulta e aceite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3" y="4864608"/>
            <a:ext cx="5111495" cy="119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Portal Público, PDF consolidado e registro dos resultados.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PREPARAÇÃO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Glossário essencial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743200" cy="52578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74519"/>
            <a:ext cx="2487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Termo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783080"/>
            <a:ext cx="8412480" cy="52578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4136" y="1874519"/>
            <a:ext cx="815644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Significado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31720"/>
            <a:ext cx="2743200" cy="525780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2423160"/>
            <a:ext cx="2487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26263B"/>
                </a:solidFill>
                <a:latin typeface="Aptos"/>
              </a:defRPr>
            </a:pPr>
            <a:r>
              <a:t>BackOffice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331720"/>
            <a:ext cx="8412480" cy="525780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2423160"/>
            <a:ext cx="815644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26263B"/>
                </a:solidFill>
                <a:latin typeface="Aptos"/>
              </a:defRPr>
            </a:pPr>
            <a:r>
              <a:t>Ambiente interno utilizado pelos servidores.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880360"/>
            <a:ext cx="2743200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" y="2971800"/>
            <a:ext cx="2487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26263B"/>
                </a:solidFill>
                <a:latin typeface="Aptos"/>
              </a:defRPr>
            </a:pPr>
            <a:r>
              <a:t>Portal Público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2880360"/>
            <a:ext cx="8412480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4136" y="2971800"/>
            <a:ext cx="815644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26263B"/>
                </a:solidFill>
                <a:latin typeface="Aptos"/>
              </a:defRPr>
            </a:pPr>
            <a:r>
              <a:t>Área aberta ao cidadão para consulta de normas e Diários.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429000"/>
            <a:ext cx="2743200" cy="525780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3520440"/>
            <a:ext cx="2487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26263B"/>
                </a:solidFill>
                <a:latin typeface="Aptos"/>
              </a:defRPr>
            </a:pPr>
            <a:r>
              <a:t>Norma geradora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3429000"/>
            <a:ext cx="8412480" cy="525780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74136" y="3520440"/>
            <a:ext cx="815644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26263B"/>
                </a:solidFill>
                <a:latin typeface="Aptos"/>
              </a:defRPr>
            </a:pPr>
            <a:r>
              <a:t>Ato publicado que origina alterações ou revogações.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977639"/>
            <a:ext cx="2743200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4069079"/>
            <a:ext cx="2487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26263B"/>
                </a:solidFill>
                <a:latin typeface="Aptos"/>
              </a:defRPr>
            </a:pPr>
            <a:r>
              <a:t>Montagem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3977639"/>
            <a:ext cx="8412480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74136" y="4069079"/>
            <a:ext cx="815644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26263B"/>
                </a:solidFill>
                <a:latin typeface="Aptos"/>
              </a:defRPr>
            </a:pPr>
            <a:r>
              <a:t>Seleção, seção e ordenação dos atos de uma edição.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526280"/>
            <a:ext cx="2743200" cy="525780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" y="4617720"/>
            <a:ext cx="2487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26263B"/>
                </a:solidFill>
                <a:latin typeface="Aptos"/>
              </a:defRPr>
            </a:pPr>
            <a:r>
              <a:t>Edição ordinária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4526280"/>
            <a:ext cx="8412480" cy="525780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74136" y="4617720"/>
            <a:ext cx="815644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26263B"/>
                </a:solidFill>
                <a:latin typeface="Aptos"/>
              </a:defRPr>
            </a:pPr>
            <a:r>
              <a:t>Publicação principal da data e seção.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074920"/>
            <a:ext cx="2743200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" y="5166359"/>
            <a:ext cx="2487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26263B"/>
                </a:solidFill>
                <a:latin typeface="Aptos"/>
              </a:defRPr>
            </a:pPr>
            <a:r>
              <a:t>Edição Extra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6120" y="5074920"/>
            <a:ext cx="8412480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74136" y="5166359"/>
            <a:ext cx="815644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26263B"/>
                </a:solidFill>
                <a:latin typeface="Aptos"/>
              </a:defRPr>
            </a:pPr>
            <a:r>
              <a:t>Publicação adicional e independente da edição ordinária.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623560"/>
            <a:ext cx="2743200" cy="525780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" y="5715000"/>
            <a:ext cx="2487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26263B"/>
                </a:solidFill>
                <a:latin typeface="Aptos"/>
              </a:defRPr>
            </a:pPr>
            <a:r>
              <a:t>PDF consolidado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5623560"/>
            <a:ext cx="8412480" cy="525780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74136" y="5715000"/>
            <a:ext cx="815644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26263B"/>
                </a:solidFill>
                <a:latin typeface="Aptos"/>
              </a:defRPr>
            </a:pPr>
            <a:r>
              <a:t>Jornal oficial com todos os atos da edição.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PREPARAÇÃO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Cada perfil tem uma responsabilidade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77255" cy="1773935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47672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Auditor e Aprovador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69464"/>
            <a:ext cx="5111495" cy="8778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O Auditor elabora a norma; o Aprovador revisa e aprova ou devolve para ajustes.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3" y="1783080"/>
            <a:ext cx="5477255" cy="1773935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3" y="1947672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Montador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3" y="2569464"/>
            <a:ext cx="5111495" cy="8778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Seleciona a seção e os atos aptos, salva a edição e solicita aprovação.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58183"/>
            <a:ext cx="5477255" cy="1773935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22775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Gestor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44568"/>
            <a:ext cx="5111495" cy="8778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Analisa a edição, edita metadados, devolve ou aprova a publicação.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3" y="3758183"/>
            <a:ext cx="5477255" cy="1773935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3" y="3922775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Auditor Externo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3" y="4544568"/>
            <a:ext cx="5111495" cy="8778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Consulta o acervo em modo somente leitura, conforme suas permissões.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715000"/>
            <a:ext cx="11155680" cy="502920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15163F"/>
                </a:solidFill>
                <a:latin typeface="Aptos"/>
              </a:defRPr>
            </a:pPr>
            <a:r>
              <a:t>Salvar a montagem, solicitar aprovação e aprovar a publicação são ações distintas.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PREPARAÇÃO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Perfis e credenciais de homologação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1920240" cy="609599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74519"/>
            <a:ext cx="166420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Perfil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1783080"/>
            <a:ext cx="2423160" cy="609599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51176" y="1874519"/>
            <a:ext cx="216712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Usuário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783080"/>
            <a:ext cx="2423160" cy="609599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74336" y="1874519"/>
            <a:ext cx="216712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Senha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1783080"/>
            <a:ext cx="4389120" cy="609599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7496" y="1874519"/>
            <a:ext cx="4133087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Responsabilidade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415540"/>
            <a:ext cx="192024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" y="2506980"/>
            <a:ext cx="166420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Auditor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415540"/>
            <a:ext cx="242316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51176" y="2506980"/>
            <a:ext cx="216712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aurelio.auditor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2415540"/>
            <a:ext cx="242316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74336" y="2506980"/>
            <a:ext cx="216712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aurelio.auditor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2415540"/>
            <a:ext cx="438912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97496" y="2506980"/>
            <a:ext cx="4133087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Cria, edita e encaminha normas.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047999"/>
            <a:ext cx="192024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3139440"/>
            <a:ext cx="166420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Aprovador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23160" y="3047999"/>
            <a:ext cx="242316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51176" y="3139440"/>
            <a:ext cx="216712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apolo.aprovador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3047999"/>
            <a:ext cx="242316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74336" y="3139440"/>
            <a:ext cx="216712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apolo.aprovador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80" y="3047999"/>
            <a:ext cx="438912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97496" y="3139440"/>
            <a:ext cx="4133087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Aprova ou devolve normas.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680459"/>
            <a:ext cx="192024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" y="3771899"/>
            <a:ext cx="166420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Montador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23160" y="3680459"/>
            <a:ext cx="242316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51176" y="3771899"/>
            <a:ext cx="216712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monteiro.montador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3680459"/>
            <a:ext cx="242316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74336" y="3771899"/>
            <a:ext cx="216712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monteiro.montador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9480" y="3680459"/>
            <a:ext cx="438912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97496" y="3771899"/>
            <a:ext cx="4133087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Monta e encaminha edições.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312919"/>
            <a:ext cx="192024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" y="4404359"/>
            <a:ext cx="166420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Gestor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23160" y="4312919"/>
            <a:ext cx="242316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51176" y="4404359"/>
            <a:ext cx="216712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genilson.gestor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46320" y="4312919"/>
            <a:ext cx="242316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74336" y="4404359"/>
            <a:ext cx="216712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genilson.gestor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69480" y="4312919"/>
            <a:ext cx="438912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97496" y="4404359"/>
            <a:ext cx="4133087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Analisa e aprova a edição.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945379"/>
            <a:ext cx="192024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" y="5036819"/>
            <a:ext cx="166420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Auditor Externo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23160" y="4945379"/>
            <a:ext cx="242316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51176" y="5036819"/>
            <a:ext cx="216712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ester.externa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46320" y="4945379"/>
            <a:ext cx="242316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74336" y="5036819"/>
            <a:ext cx="216712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ester.externa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69480" y="4945379"/>
            <a:ext cx="438912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97496" y="5036819"/>
            <a:ext cx="4133087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Consulta em modo somente leitura.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5715000"/>
            <a:ext cx="11155680" cy="502920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15163F"/>
                </a:solidFill>
                <a:latin typeface="Aptos"/>
              </a:defRPr>
            </a:pPr>
            <a:r>
              <a:t>Ambiente de homologação: https://ibs-dev.sydle.one/  •  Utilize o perfil responsável pela etapa.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HOMOLOGAÇÃO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Como preencher a planilha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743200" cy="635508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74519"/>
            <a:ext cx="24871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Coluna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783080"/>
            <a:ext cx="8412480" cy="635508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4136" y="1874519"/>
            <a:ext cx="8156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Regra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41448"/>
            <a:ext cx="2743200" cy="635508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2532888"/>
            <a:ext cx="24871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Válido?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441448"/>
            <a:ext cx="8412480" cy="635508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2532888"/>
            <a:ext cx="8156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Sim apenas quando o resultado esperado for atendido integralmente.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99815"/>
            <a:ext cx="2743200" cy="6355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" y="3191256"/>
            <a:ext cx="24871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Observações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3099815"/>
            <a:ext cx="8412480" cy="6355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4136" y="3191256"/>
            <a:ext cx="8156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Obrigatória para Não, bloqueio ou impossibilidade de testar.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758184"/>
            <a:ext cx="2743200" cy="635508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3849624"/>
            <a:ext cx="24871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Data da validação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3758184"/>
            <a:ext cx="8412480" cy="635508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74136" y="3849624"/>
            <a:ext cx="8156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Dia em que o cenário foi realmente executado.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416552"/>
            <a:ext cx="2743200" cy="6355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4507992"/>
            <a:ext cx="24871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Responsável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4416552"/>
            <a:ext cx="8412480" cy="6355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74136" y="4507992"/>
            <a:ext cx="8156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Pessoa que executou e conferiu o teste.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715000"/>
            <a:ext cx="11155680" cy="502920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15163F"/>
                </a:solidFill>
                <a:latin typeface="Aptos"/>
              </a:defRPr>
            </a:pPr>
            <a:r>
              <a:t>Boa observação: “CEN-006.1 — edição 31 não retornou à fila do Montador após devolução; esperado status Devolvido e histórico com justificativa”.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PREPARAÇÃO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Acessar o BackOffice  |  1/2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2" y="1691640"/>
            <a:ext cx="8062976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61120" y="1691640"/>
            <a:ext cx="2697480" cy="4535424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B20E1"/>
                </a:solidFill>
                <a:latin typeface="Aptos"/>
              </a:defRPr>
            </a:pPr>
            <a:r>
              <a:t>CEN-004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06040"/>
            <a:ext cx="23317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Entre com o usuário do perfil que executará a etapa.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006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46479"/>
                </a:solidFill>
                <a:latin typeface="Aptos"/>
              </a:defRPr>
            </a:pPr>
            <a:r>
              <a:t>Se o menu, fila ou ação não aparecer, confirme primeiro o perfil e o workspace selecionado.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PREPARAÇÃO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Acessar o BackOffice  |  2/2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2" y="1691640"/>
            <a:ext cx="8062976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61120" y="1691640"/>
            <a:ext cx="2697480" cy="4535424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B20E1"/>
                </a:solidFill>
                <a:latin typeface="Aptos"/>
              </a:defRPr>
            </a:pPr>
            <a:r>
              <a:t>CEN-004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06040"/>
            <a:ext cx="23317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Abra o menu e selecione Gestão de Legislação.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006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46479"/>
                </a:solidFill>
                <a:latin typeface="Aptos"/>
              </a:defRPr>
            </a:pPr>
            <a:r>
              <a:t>Se o menu, fila ou ação não aparecer, confirme primeiro o perfil e o workspace selecionado.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PREPARAÇÃO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Quando uma ação não aparece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560320" cy="690372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74519"/>
            <a:ext cx="2304287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Sintoma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39" y="1783080"/>
            <a:ext cx="3657600" cy="690372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91256" y="1874519"/>
            <a:ext cx="340156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Verificação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783080"/>
            <a:ext cx="4937760" cy="690372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8855" y="1874519"/>
            <a:ext cx="468172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96312"/>
            <a:ext cx="2560320" cy="690372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2587752"/>
            <a:ext cx="2304287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Menu não aparece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39" y="2496312"/>
            <a:ext cx="3657600" cy="690372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91256" y="2587752"/>
            <a:ext cx="340156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Workspace atual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2496312"/>
            <a:ext cx="4937760" cy="690372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48855" y="2587752"/>
            <a:ext cx="468172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Selecionar Gestão de Legislação.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09544"/>
            <a:ext cx="2560320" cy="690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3300984"/>
            <a:ext cx="2304287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Botão indisponível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3239" y="3209544"/>
            <a:ext cx="3657600" cy="690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91256" y="3300984"/>
            <a:ext cx="340156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Perfil e etapa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3209544"/>
            <a:ext cx="4937760" cy="690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48855" y="3300984"/>
            <a:ext cx="468172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Usar o responsável pela etapa.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922776"/>
            <a:ext cx="2560320" cy="690372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4014215"/>
            <a:ext cx="2304287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Fila vazia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3239" y="3922776"/>
            <a:ext cx="3657600" cy="690372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91256" y="4014215"/>
            <a:ext cx="340156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Status do registro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3922776"/>
            <a:ext cx="4937760" cy="690372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5" y="4014215"/>
            <a:ext cx="468172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Confirmar o encaminhamento.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636008"/>
            <a:ext cx="2560320" cy="690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" y="4727448"/>
            <a:ext cx="2304287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Acesso negado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3239" y="4636008"/>
            <a:ext cx="3657600" cy="690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91256" y="4727448"/>
            <a:ext cx="340156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Cadastro e permissão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20840" y="4636008"/>
            <a:ext cx="4937760" cy="690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48855" y="4727448"/>
            <a:ext cx="468172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Validar com administrador.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349240"/>
            <a:ext cx="2560320" cy="690372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" y="5440680"/>
            <a:ext cx="2304287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Tela desatualizada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63239" y="5349240"/>
            <a:ext cx="3657600" cy="690372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91256" y="5440680"/>
            <a:ext cx="340156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Sessão e cache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20840" y="5349240"/>
            <a:ext cx="4937760" cy="690372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48855" y="5440680"/>
            <a:ext cx="468172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Atualizar e entrar novamente.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PREPARAÇÃO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Confirmar a norma aprovada  |  1/2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2" y="1691640"/>
            <a:ext cx="8062976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61120" y="1691640"/>
            <a:ext cx="2697480" cy="4535424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B20E1"/>
                </a:solidFill>
                <a:latin typeface="Aptos"/>
              </a:defRPr>
            </a:pPr>
            <a:r>
              <a:t>Pré-requisito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06040"/>
            <a:ext cx="23317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O Auditor cria ou altera a norma e inicia a aprovação.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006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46479"/>
                </a:solidFill>
                <a:latin typeface="Aptos"/>
              </a:defRPr>
            </a:pPr>
            <a:r>
              <a:t>Sem esse status, a norma não deve aparecer para o Montador.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PREPARAÇÃO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Confirmar a norma aprovada  |  2/2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2" y="1691640"/>
            <a:ext cx="8062976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61120" y="1691640"/>
            <a:ext cx="2697480" cy="4535424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B20E1"/>
                </a:solidFill>
                <a:latin typeface="Aptos"/>
              </a:defRPr>
            </a:pPr>
            <a:r>
              <a:t>Pré-requisito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06040"/>
            <a:ext cx="23317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Após aprovação, confira “Aguardando Publicação no Diário Oficial”.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006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46479"/>
                </a:solidFill>
                <a:latin typeface="Aptos"/>
              </a:defRPr>
            </a:pPr>
            <a:r>
              <a:t>Sem esse status, a norma não deve aparecer para o Montador.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PREPARAÇÃO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Antes de montar a edição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77255" cy="2093976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47672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Norma aprovada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69464"/>
            <a:ext cx="5111495" cy="119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Confirme a conclusão da aprovação e a disponibilidade para publicação.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3" y="1783080"/>
            <a:ext cx="5477255" cy="2093976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3" y="1947672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Conteúdo conferido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3" y="2569464"/>
            <a:ext cx="5111495" cy="119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Revise título, ementa, texto, relacionamentos e versão do ato.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078224"/>
            <a:ext cx="5477255" cy="2093976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42816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Massa de teste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64608"/>
            <a:ext cx="5111495" cy="119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Separe normas e edições para os testes imediato, agendado e de edição extra.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3" y="4078224"/>
            <a:ext cx="5477255" cy="2093976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3" y="4242816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Perfil correto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3" y="4864608"/>
            <a:ext cx="5111495" cy="119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Entre com o Montador para iniciar a edição; use o Gestor para a análise.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MONTAGEM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Criar uma edição  |  1/2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2" y="1691640"/>
            <a:ext cx="8062976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61120" y="1691640"/>
            <a:ext cx="2697480" cy="4535424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B20E1"/>
                </a:solidFill>
                <a:latin typeface="Aptos"/>
              </a:defRPr>
            </a:pPr>
            <a:r>
              <a:t>CEN-005.1 / CEN-005.2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06040"/>
            <a:ext cx="23317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No perfil Montador, abra Diário Oficial e clique em “+”.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006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46479"/>
                </a:solidFill>
                <a:latin typeface="Aptos"/>
              </a:defRPr>
            </a:pPr>
            <a:r>
              <a:t>O número da edição será gerado depois que a montagem for salva.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MONTAGEM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Criar uma edição  |  2/2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2" y="1691640"/>
            <a:ext cx="8062976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61120" y="1691640"/>
            <a:ext cx="2697480" cy="4535424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B20E1"/>
                </a:solidFill>
                <a:latin typeface="Aptos"/>
              </a:defRPr>
            </a:pPr>
            <a:r>
              <a:t>CEN-005.1 / CEN-005.2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06040"/>
            <a:ext cx="23317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A tela reúne Identificação, Montagem e Publicação.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006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46479"/>
                </a:solidFill>
                <a:latin typeface="Aptos"/>
              </a:defRPr>
            </a:pPr>
            <a:r>
              <a:t>O número da edição será gerado depois que a montagem for salva.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MONTAGEM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Selecionar seção e normas  |  1/2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16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2" y="1691640"/>
            <a:ext cx="8062976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61120" y="1691640"/>
            <a:ext cx="2697480" cy="4535424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B20E1"/>
                </a:solidFill>
                <a:latin typeface="Aptos"/>
              </a:defRPr>
            </a:pPr>
            <a:r>
              <a:t>CEN-005.1 / CEN-005.2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06040"/>
            <a:ext cx="23317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Escolha a seção e inclua apenas atos aptos.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006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46479"/>
                </a:solidFill>
                <a:latin typeface="Aptos"/>
              </a:defRPr>
            </a:pPr>
            <a:r>
              <a:t>A sequência da montagem será repetida no PDF consolidado.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MONTAGEM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Selecionar seção e normas  |  2/2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17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2" y="1691640"/>
            <a:ext cx="8062976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61120" y="1691640"/>
            <a:ext cx="2697480" cy="4535424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B20E1"/>
                </a:solidFill>
                <a:latin typeface="Aptos"/>
              </a:defRPr>
            </a:pPr>
            <a:r>
              <a:t>CEN-005.1 / CEN-005.2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06040"/>
            <a:ext cx="23317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Inclua todos os atos e ajuste a ordem editorial.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006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46479"/>
                </a:solidFill>
                <a:latin typeface="Aptos"/>
              </a:defRPr>
            </a:pPr>
            <a:r>
              <a:t>A sequência da montagem será repetida no PDF consolidado.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MONTAGEM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Escolher o tipo de publicação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18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2" y="1691640"/>
            <a:ext cx="8062976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61120" y="1691640"/>
            <a:ext cx="2697480" cy="4535424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B20E1"/>
                </a:solidFill>
                <a:latin typeface="Aptos"/>
              </a:defRPr>
            </a:pPr>
            <a:r>
              <a:t>CEN-005.1 / CEN-005.2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06040"/>
            <a:ext cx="23317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Escolha Imediata para publicação após a aprovação do Gestor.</a:t>
            </a:r>
          </a:p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Para Agendada, informe uma data futura e submeta a edição à aprovação.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006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46479"/>
                </a:solidFill>
                <a:latin typeface="Aptos"/>
              </a:defRPr>
            </a:pPr>
            <a:r>
              <a:t>Salvar a montagem não efetiva a publicação.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MONTAGEM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O que validar ao solicitar aprovação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77255" cy="374903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47672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CEN-005.1  |  Imediata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69464"/>
            <a:ext cx="5111495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Selecione Imediata, salve os metadados e solicite aprovação. Confirme o envio ao Gestor e a ausência de publicação antes da decisão.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3" y="1783080"/>
            <a:ext cx="5477255" cy="374903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3" y="1947672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CEN-005.2  |  Agendada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3" y="2569464"/>
            <a:ext cx="5111495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Selecione Agendada, informe uma data futura, salve e solicite aprovação. Confirme a data registrada e o encaminhamento ao Gestor.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715000"/>
            <a:ext cx="11155680" cy="502920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15163F"/>
                </a:solidFill>
                <a:latin typeface="Aptos"/>
              </a:defRPr>
            </a:pPr>
            <a:r>
              <a:t>A aprovação e a publicação são verificadas em CEN-007; a execução automática, em CEN-008.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MONTAGEM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Salvar e solicitar aprovação  |  1/2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20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2" y="1691640"/>
            <a:ext cx="8062976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61120" y="1691640"/>
            <a:ext cx="2697480" cy="4535424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B20E1"/>
                </a:solidFill>
                <a:latin typeface="Aptos"/>
              </a:defRPr>
            </a:pPr>
            <a:r>
              <a:t>CEN-005.1 / CEN-005.2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06040"/>
            <a:ext cx="23317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Salvar gera a edição com status “Em montagem”.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006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46479"/>
                </a:solidFill>
                <a:latin typeface="Aptos"/>
              </a:defRPr>
            </a:pPr>
            <a:r>
              <a:t>A observação para o Gestor é opcional nessa etapa.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MONTAGEM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Salvar e solicitar aprovação  |  2/2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21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2" y="1691640"/>
            <a:ext cx="8062976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61120" y="1691640"/>
            <a:ext cx="2697480" cy="4535424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B20E1"/>
                </a:solidFill>
                <a:latin typeface="Aptos"/>
              </a:defRPr>
            </a:pPr>
            <a:r>
              <a:t>CEN-005.1 / CEN-005.2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06040"/>
            <a:ext cx="23317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Depois da revisão, clique em “Solicitar aprovação”.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006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46479"/>
                </a:solidFill>
                <a:latin typeface="Aptos"/>
              </a:defRPr>
            </a:pPr>
            <a:r>
              <a:t>A observação para o Gestor é opcional nessa etapa.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ANÁLISE E PUBLICAÇÃO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Conferir status e histórico  |  1/2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22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2" y="1691640"/>
            <a:ext cx="8062976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61120" y="1691640"/>
            <a:ext cx="2697480" cy="4535424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B20E1"/>
                </a:solidFill>
                <a:latin typeface="Aptos"/>
              </a:defRPr>
            </a:pPr>
            <a:r>
              <a:t>CEN-007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06040"/>
            <a:ext cx="23317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Após o envio, o status muda para Aguardando aprovação.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006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46479"/>
                </a:solidFill>
                <a:latin typeface="Aptos"/>
              </a:defRPr>
            </a:pPr>
            <a:r>
              <a:t>Confira se o histórico registra as ações e decisões esperadas.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ANÁLISE E PUBLICAÇÃO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Conferir status e histórico  |  2/2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23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2" y="1691640"/>
            <a:ext cx="8062976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61120" y="1691640"/>
            <a:ext cx="2697480" cy="4535424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B20E1"/>
                </a:solidFill>
                <a:latin typeface="Aptos"/>
              </a:defRPr>
            </a:pPr>
            <a:r>
              <a:t>CEN-007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06040"/>
            <a:ext cx="23317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O histórico registra solicitante, data e decisões.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006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46479"/>
                </a:solidFill>
                <a:latin typeface="Aptos"/>
              </a:defRPr>
            </a:pPr>
            <a:r>
              <a:t>Confira se o histórico registra as ações e decisões esperadas.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ANÁLISE E PUBLICAÇÃO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Status ao longo do fluxo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560320" cy="609599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74519"/>
            <a:ext cx="2304287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39" y="1783080"/>
            <a:ext cx="3657600" cy="609599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91256" y="1874519"/>
            <a:ext cx="340156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Responsável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783080"/>
            <a:ext cx="4937760" cy="609599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8855" y="1874519"/>
            <a:ext cx="468172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Comportamento esperado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15540"/>
            <a:ext cx="256032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2506980"/>
            <a:ext cx="2304287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Em montagem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39" y="2415540"/>
            <a:ext cx="365760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91256" y="2506980"/>
            <a:ext cx="340156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Montador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2415540"/>
            <a:ext cx="493776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48855" y="2506980"/>
            <a:ext cx="468172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Pode editar e solicitar aprovação.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47999"/>
            <a:ext cx="256032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3139440"/>
            <a:ext cx="2304287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Aguardando aprovação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3239" y="3047999"/>
            <a:ext cx="365760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91256" y="3139440"/>
            <a:ext cx="340156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Gestor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3047999"/>
            <a:ext cx="493776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48855" y="3139440"/>
            <a:ext cx="468172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Analisa, edita ou devolve.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680459"/>
            <a:ext cx="256032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3771899"/>
            <a:ext cx="2304287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Devolvido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3239" y="3680459"/>
            <a:ext cx="365760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91256" y="3771899"/>
            <a:ext cx="340156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Montador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3680459"/>
            <a:ext cx="493776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5" y="3771899"/>
            <a:ext cx="468172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Corrige e ressubmete.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312919"/>
            <a:ext cx="256032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" y="4404359"/>
            <a:ext cx="2304287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Agendado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3239" y="4312919"/>
            <a:ext cx="365760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91256" y="4404359"/>
            <a:ext cx="340156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Sistema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20840" y="4312919"/>
            <a:ext cx="493776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48855" y="4404359"/>
            <a:ext cx="468172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Aguarda a data programada.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945379"/>
            <a:ext cx="256032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" y="5036819"/>
            <a:ext cx="2304287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Publicando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63239" y="4945379"/>
            <a:ext cx="365760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91256" y="5036819"/>
            <a:ext cx="340156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Sistema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20840" y="4945379"/>
            <a:ext cx="493776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48855" y="5036819"/>
            <a:ext cx="468172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Gera jornal e versões.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715000"/>
            <a:ext cx="11155680" cy="502920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15163F"/>
                </a:solidFill>
                <a:latin typeface="Aptos"/>
              </a:defRPr>
            </a:pPr>
            <a:r>
              <a:t>Publicado Consulta Disponível no Portal Público.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ANÁLISE E PUBLICAÇÃO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Analisar a edição como Gestor  |  1/2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25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2" y="1691640"/>
            <a:ext cx="8062976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61120" y="1691640"/>
            <a:ext cx="2697480" cy="4535424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B20E1"/>
                </a:solidFill>
                <a:latin typeface="Aptos"/>
              </a:defRPr>
            </a:pPr>
            <a:r>
              <a:t>CEN-006.1 / CEN-006.2 / CEN-007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06040"/>
            <a:ext cx="23317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O Gestor pode editar a montagem antes da decisão.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006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46479"/>
                </a:solidFill>
                <a:latin typeface="Aptos"/>
              </a:defRPr>
            </a:pPr>
            <a:r>
              <a:t>Na devolução, registre uma justificativa objetiva para orientar o Montador.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ANÁLISE E PUBLICAÇÃO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Analisar a edição como Gestor  |  2/2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26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2" y="1691640"/>
            <a:ext cx="8062976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61120" y="1691640"/>
            <a:ext cx="2697480" cy="4535424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B20E1"/>
                </a:solidFill>
                <a:latin typeface="Aptos"/>
              </a:defRPr>
            </a:pPr>
            <a:r>
              <a:t>CEN-006.1 / CEN-006.2 / CEN-007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06040"/>
            <a:ext cx="23317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Em Analisar diário, escolha Aprovar ou Devolver.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006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46479"/>
                </a:solidFill>
                <a:latin typeface="Aptos"/>
              </a:defRPr>
            </a:pPr>
            <a:r>
              <a:t>Na devolução, registre uma justificativa objetiva para orientar o Montador.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ANÁLISE E PUBLICAÇÃO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Devolver ou editar os metadados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77255" cy="374903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47672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CEN-006.1  |  Devolver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69464"/>
            <a:ext cx="5111495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Em Analisar diário, registre a justificativa e devolva. Confirme o retorno à fila do Montador e o registro no histórico.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3" y="1783080"/>
            <a:ext cx="5477255" cy="374903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3" y="1947672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CEN-006.2  |  Editar diretamente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3" y="2569464"/>
            <a:ext cx="5111495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Edite os metadados com o perfil Gestor e salve. Confira a versão no histórico e a permanência da edição sob responsabilidade do Gestor.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715000"/>
            <a:ext cx="11155680" cy="502920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15163F"/>
                </a:solidFill>
                <a:latin typeface="Aptos"/>
              </a:defRPr>
            </a:pPr>
            <a:r>
              <a:t>Na devolução, descreva o campo a corrigir e o resultado esperado para orientar o Montador.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ANÁLISE E PUBLICAÇÃO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Acompanhar o processamento  |  1/2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28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2" y="1691640"/>
            <a:ext cx="8062976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61120" y="1691640"/>
            <a:ext cx="2697480" cy="4535424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B20E1"/>
                </a:solidFill>
                <a:latin typeface="Aptos"/>
              </a:defRPr>
            </a:pPr>
            <a:r>
              <a:t>CEN-007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06040"/>
            <a:ext cx="23317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Na publicação imediata, o status passa para Publicando.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006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46479"/>
                </a:solidFill>
                <a:latin typeface="Aptos"/>
              </a:defRPr>
            </a:pPr>
            <a:r>
              <a:t>O processamento também gera o jornal e as novas versões das normas.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ANÁLISE E PUBLICAÇÃO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Acompanhar o processamento  |  2/2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29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2" y="1691640"/>
            <a:ext cx="8062976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61120" y="1691640"/>
            <a:ext cx="2697480" cy="4535424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B20E1"/>
                </a:solidFill>
                <a:latin typeface="Aptos"/>
              </a:defRPr>
            </a:pPr>
            <a:r>
              <a:t>CEN-007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06040"/>
            <a:ext cx="23317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Ao concluir, passa para Publicado e chega ao portal.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006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46479"/>
                </a:solidFill>
                <a:latin typeface="Aptos"/>
              </a:defRPr>
            </a:pPr>
            <a:r>
              <a:t>O processamento também gera o jornal e as novas versões das normas.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ANÁLISE E PUBLICAÇÃO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Conferir o agendamento automático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743200" cy="609599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74519"/>
            <a:ext cx="248716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Momento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783080"/>
            <a:ext cx="8412480" cy="609599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4136" y="1874519"/>
            <a:ext cx="815644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Resultado esperado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15540"/>
            <a:ext cx="274320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2506980"/>
            <a:ext cx="248716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Configuração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415540"/>
            <a:ext cx="841248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2506980"/>
            <a:ext cx="815644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Data futura aceita e registrada.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47999"/>
            <a:ext cx="274320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" y="3139440"/>
            <a:ext cx="248716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Após aprovação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3047999"/>
            <a:ext cx="841248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4136" y="3139440"/>
            <a:ext cx="815644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Status Agendado; ainda sem publicação pública.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680459"/>
            <a:ext cx="274320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3771899"/>
            <a:ext cx="248716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Antes da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3680459"/>
            <a:ext cx="841248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74136" y="3771899"/>
            <a:ext cx="815644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Edição não aparece como publicada no portal.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312919"/>
            <a:ext cx="274320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4404359"/>
            <a:ext cx="248716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Na data programada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4312919"/>
            <a:ext cx="841248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74136" y="4404359"/>
            <a:ext cx="815644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Rotina altera o status automaticamente.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945379"/>
            <a:ext cx="274320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" y="5036819"/>
            <a:ext cx="248716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Após processamento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4945379"/>
            <a:ext cx="841248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74136" y="5036819"/>
            <a:ext cx="815644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Edição e PDF disponíveis na seção correta.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715000"/>
            <a:ext cx="11155680" cy="502920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15163F"/>
                </a:solidFill>
                <a:latin typeface="Aptos"/>
              </a:defRPr>
            </a:pPr>
            <a:r>
              <a:t>Registre horário, fuso e intervalo de execução da rotina. Não altere o relógio do ambiente sem alinhamento técnico.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ANÁLISE E PUBLICAÇÃO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Publicar uma edição extra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31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2" y="1691640"/>
            <a:ext cx="8062976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61120" y="1691640"/>
            <a:ext cx="2697480" cy="4535424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B20E1"/>
                </a:solidFill>
                <a:latin typeface="Aptos"/>
              </a:defRPr>
            </a:pPr>
            <a:r>
              <a:t>CEN-009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06040"/>
            <a:ext cx="23317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Com uma edição ordinária já publicada, monte e submeta outra edição para a mesma data.</a:t>
            </a:r>
          </a:p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Confira a identificação própria da edição extra.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006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46479"/>
                </a:solidFill>
                <a:latin typeface="Aptos"/>
              </a:defRPr>
            </a:pPr>
            <a:r>
              <a:t>A edição ordinária deve permanecer disponível no portal.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ANÁLISE E PUBLICAÇÃO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CEN-009  |  Conferir a edição extra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77255" cy="374903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47672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Antes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69464"/>
            <a:ext cx="5111495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Confirme uma edição ordinária já publicada na mesma data e seção.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3" y="1783080"/>
            <a:ext cx="5477255" cy="374903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3" y="1947672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Depois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3" y="2569464"/>
            <a:ext cx="5111495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Aprove a nova edição e confira identificação própria, PDF separado e preservação da edição ordinária.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715000"/>
            <a:ext cx="11155680" cy="502920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15163F"/>
                </a:solidFill>
                <a:latin typeface="Aptos"/>
              </a:defRPr>
            </a:pPr>
            <a:r>
              <a:t>Compare as duas edições no Portal Público e guarde a identificação de cada uma.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PORTAL PÚBLICO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Pesquisar por data e seção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33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2" y="1691640"/>
            <a:ext cx="8062976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61120" y="1691640"/>
            <a:ext cx="2697480" cy="4535424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B20E1"/>
                </a:solidFill>
                <a:latin typeface="Aptos"/>
              </a:defRPr>
            </a:pPr>
            <a:r>
              <a:t>CEN-001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06040"/>
            <a:ext cx="23317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Selecione a data e a seção obrigatória. A pesquisa textual é opcional.</a:t>
            </a:r>
          </a:p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Clique em Pesquisar e confira o indicador “VOCÊ ESTÁ VENDO”.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006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46479"/>
                </a:solidFill>
                <a:latin typeface="Aptos"/>
              </a:defRPr>
            </a:pPr>
            <a:r>
              <a:t>Sem publicações na data e seção, confira a mensagem de nenhum resultado.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PORTAL PÚBLICO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Variações de consulta a testar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560320" cy="609599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74519"/>
            <a:ext cx="2304287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Teste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39" y="1783080"/>
            <a:ext cx="3657600" cy="609599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91256" y="1874519"/>
            <a:ext cx="340156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783080"/>
            <a:ext cx="4937760" cy="609599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8855" y="1874519"/>
            <a:ext cx="468172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Resultado esperado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15540"/>
            <a:ext cx="256032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2506980"/>
            <a:ext cx="2304287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Com publicação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39" y="2415540"/>
            <a:ext cx="365760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91256" y="2506980"/>
            <a:ext cx="340156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Data e seção conhecidas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2415540"/>
            <a:ext cx="493776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48855" y="2506980"/>
            <a:ext cx="468172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Indicador e cards exibidos.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47999"/>
            <a:ext cx="256032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3139440"/>
            <a:ext cx="2304287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Sem publicação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3239" y="3047999"/>
            <a:ext cx="365760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91256" y="3139440"/>
            <a:ext cx="340156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Data sem atos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3047999"/>
            <a:ext cx="493776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48855" y="3139440"/>
            <a:ext cx="468172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Mensagem de nenhum resultado.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680459"/>
            <a:ext cx="256032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3771899"/>
            <a:ext cx="2304287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Outra seção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3239" y="3680459"/>
            <a:ext cx="365760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91256" y="3771899"/>
            <a:ext cx="340156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Trocar apenas a seção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3680459"/>
            <a:ext cx="493776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5" y="3771899"/>
            <a:ext cx="468172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Lista restrita à nova seção.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312919"/>
            <a:ext cx="256032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" y="4404359"/>
            <a:ext cx="2304287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Busca textual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3239" y="4312919"/>
            <a:ext cx="365760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91256" y="4404359"/>
            <a:ext cx="340156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Informar termo existente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20840" y="4312919"/>
            <a:ext cx="493776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48855" y="4404359"/>
            <a:ext cx="468172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Resultados compatíveis.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945379"/>
            <a:ext cx="256032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" y="5036819"/>
            <a:ext cx="2304287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Diário completo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63239" y="4945379"/>
            <a:ext cx="365760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91256" y="5036819"/>
            <a:ext cx="340156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Abrir o atalho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20840" y="4945379"/>
            <a:ext cx="493776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48855" y="5036819"/>
            <a:ext cx="468172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Edições e páginas.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715000"/>
            <a:ext cx="11155680" cy="502920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15163F"/>
                </a:solidFill>
                <a:latin typeface="Aptos"/>
              </a:defRPr>
            </a:pPr>
            <a:r>
              <a:t>PDF Visualizar edição Documento oficial diagramado.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PORTAL PÚBLICO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Conferir os atos publicados  |  1/2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35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2" y="1691640"/>
            <a:ext cx="8062976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61120" y="1691640"/>
            <a:ext cx="2697480" cy="4535424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B20E1"/>
                </a:solidFill>
                <a:latin typeface="Aptos"/>
              </a:defRPr>
            </a:pPr>
            <a:r>
              <a:t>CEN-001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06040"/>
            <a:ext cx="23317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A consulta lista os atos publicados na data e seção.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006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46479"/>
                </a:solidFill>
                <a:latin typeface="Aptos"/>
              </a:defRPr>
            </a:pPr>
            <a:r>
              <a:t>Confira título, ementa, conteúdo, edição e data de publicação.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PORTAL PÚBLICO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Conferir os atos publicados  |  2/2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36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2" y="1691640"/>
            <a:ext cx="8062976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61120" y="1691640"/>
            <a:ext cx="2697480" cy="4535424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B20E1"/>
                </a:solidFill>
                <a:latin typeface="Aptos"/>
              </a:defRPr>
            </a:pPr>
            <a:r>
              <a:t>CEN-001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06040"/>
            <a:ext cx="23317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Clique no card para abrir o texto integral diagramado.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006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46479"/>
                </a:solidFill>
                <a:latin typeface="Aptos"/>
              </a:defRPr>
            </a:pPr>
            <a:r>
              <a:t>Confira título, ementa, conteúdo, edição e data de publicação.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PORTAL PÚBLICO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Abrir a edição e o PDF  |  1/2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37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2" y="1691640"/>
            <a:ext cx="8062976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61120" y="1691640"/>
            <a:ext cx="2697480" cy="4535424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B20E1"/>
                </a:solidFill>
                <a:latin typeface="Aptos"/>
              </a:defRPr>
            </a:pPr>
            <a:r>
              <a:t>CEN-002 / CEN-003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06040"/>
            <a:ext cx="23317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Diário Completo lista as publicações disponíveis.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006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46479"/>
                </a:solidFill>
                <a:latin typeface="Aptos"/>
              </a:defRPr>
            </a:pPr>
            <a:r>
              <a:t>Valide número, data, páginas, seção, total de atos e a ordem das normas no documento.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PORTAL PÚBLICO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Abrir a edição e o PDF  |  2/2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38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32" y="1691640"/>
            <a:ext cx="8062976" cy="453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61120" y="1691640"/>
            <a:ext cx="2697480" cy="4535424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B20E1"/>
                </a:solidFill>
                <a:latin typeface="Aptos"/>
              </a:defRPr>
            </a:pPr>
            <a:r>
              <a:t>CEN-002 / CEN-003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06040"/>
            <a:ext cx="23317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Visualizar PDF abre o jornal oficial da edição.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006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46479"/>
                </a:solidFill>
                <a:latin typeface="Aptos"/>
              </a:defRPr>
            </a:pPr>
            <a:r>
              <a:t>Valide número, data, páginas, seção, total de atos e a ordem das normas no documento.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REGISTRO DO ACEITE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Como documentar uma falha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743200" cy="609599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74519"/>
            <a:ext cx="248716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Informação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783080"/>
            <a:ext cx="8412480" cy="609599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4136" y="1874519"/>
            <a:ext cx="815644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O que registrar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15540"/>
            <a:ext cx="274320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2506980"/>
            <a:ext cx="248716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Identificação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415540"/>
            <a:ext cx="841248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2506980"/>
            <a:ext cx="815644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Cenário, ambiente, data/hora, perfil e usuário.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47999"/>
            <a:ext cx="274320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" y="3139440"/>
            <a:ext cx="248716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Passo a passo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3047999"/>
            <a:ext cx="841248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4136" y="3139440"/>
            <a:ext cx="815644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Ações exatas até o comportamento observado.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680459"/>
            <a:ext cx="274320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3771899"/>
            <a:ext cx="248716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Comparação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3680459"/>
            <a:ext cx="841248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74136" y="3771899"/>
            <a:ext cx="815644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Esperado versus efetivamente obtido.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312919"/>
            <a:ext cx="274320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4404359"/>
            <a:ext cx="248716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Evidências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4312919"/>
            <a:ext cx="8412480" cy="609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74136" y="4404359"/>
            <a:ext cx="815644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Screenshots, mensagens, IDs, edição, seção e links.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945379"/>
            <a:ext cx="274320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" y="5036819"/>
            <a:ext cx="248716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Impacto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4945379"/>
            <a:ext cx="8412480" cy="609599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74136" y="5036819"/>
            <a:ext cx="8156448" cy="52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6263B"/>
                </a:solidFill>
                <a:latin typeface="Aptos"/>
              </a:defRPr>
            </a:pPr>
            <a:r>
              <a:t>Bloqueio total, parcial, visual ou dúvida.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715000"/>
            <a:ext cx="11155680" cy="502920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15163F"/>
                </a:solidFill>
                <a:latin typeface="Aptos"/>
              </a:defRPr>
            </a:pPr>
            <a:r>
              <a:t>Reteste Versão/data da correção e novo resultado. “Não funcionou” não é reproduzível. Informe onde ocorreu, o que foi feito e qual resultado era esperado.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REGISTRO DO ACEITE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Checklist de cobertura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77255" cy="1773935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47672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CEN-001 a CEN-003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69464"/>
            <a:ext cx="5111495" cy="8778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Busca e estado vazio; edições ordinária e extra; PDF consolidado.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3" y="1783080"/>
            <a:ext cx="5477255" cy="1773935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3" y="1947672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CEN-004 e CEN-005.1 / 005.2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3" y="2569464"/>
            <a:ext cx="5111495" cy="8778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Acesso autenticado; montagem imediata e agendada sem publicação antecipada.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58183"/>
            <a:ext cx="5477255" cy="1773935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22775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CEN-006.1 / 006.2 e CEN-007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44568"/>
            <a:ext cx="5111495" cy="8778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Devolução, edição direta e aprovação da edição.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3" y="3758183"/>
            <a:ext cx="5477255" cy="1773935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3" y="3922775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CEN-008 e CEN-009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3" y="4544568"/>
            <a:ext cx="5111495" cy="8778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Publicação automática na data programada e edição extra independente.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715000"/>
            <a:ext cx="11155680" cy="502920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15163F"/>
                </a:solidFill>
                <a:latin typeface="Aptos"/>
              </a:defRPr>
            </a:pPr>
            <a:r>
              <a:t>Registre cada cenário na planilha. Não marque Sim para um teste bloqueado ou não executado.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1B20E1"/>
                </a:solidFill>
                <a:latin typeface="Aptos"/>
              </a:defRPr>
            </a:pPr>
            <a:r>
              <a:t>ENCERRAMENTO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09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5163F"/>
                </a:solidFill>
                <a:latin typeface="Aptos"/>
              </a:defRPr>
            </a:pPr>
            <a:r>
              <a:t>Concluir e encaminhar a homologação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F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5163F"/>
                </a:solidFill>
                <a:latin typeface="Aptos"/>
              </a:defRPr>
            </a:pPr>
            <a:r>
              <a:t>EloGroup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46479"/>
                </a:solidFill>
                <a:latin typeface="Aptos"/>
              </a:defRPr>
            </a:pPr>
            <a:r>
              <a:t>CGIBS  /  MANUAL DE HOMOLOGAÇÃO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46479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77255" cy="1773935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47672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Resultado por cenário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69464"/>
            <a:ext cx="5111495" cy="8778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Confira Válido?, observações, data real da execução e responsável.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3" y="1783080"/>
            <a:ext cx="5477255" cy="1773935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3" y="1947672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Evidências organizadas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3" y="2569464"/>
            <a:ext cx="5111495" cy="8778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Associe telas, IDs, edição, seção e data/hora ao cenário correspondente.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58183"/>
            <a:ext cx="5477255" cy="1773935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22775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Pendências explícitas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44568"/>
            <a:ext cx="5111495" cy="8778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Descreva falhas, bloqueios e dependências; reteste após a correção.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3" y="3758183"/>
            <a:ext cx="5477255" cy="1773935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3" y="3922775"/>
            <a:ext cx="5111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B20E1"/>
                </a:solidFill>
                <a:latin typeface="Aptos"/>
              </a:defRPr>
            </a:pPr>
            <a:r>
              <a:t>Materiais de apoio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3" y="4544568"/>
            <a:ext cx="5111495" cy="8778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6263B"/>
                </a:solidFill>
                <a:latin typeface="Aptos"/>
              </a:defRPr>
            </a:pPr>
            <a:r>
              <a:t>Encaminhe este manual com a planilha de aceite e o link do vídeo demonstrativo.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715000"/>
            <a:ext cx="11155680" cy="502920"/>
          </a:xfrm>
          <a:prstGeom prst="rect">
            <a:avLst/>
          </a:prstGeom>
          <a:solidFill>
            <a:srgbClr val="F3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15163F"/>
                </a:solidFill>
                <a:latin typeface="Aptos"/>
              </a:defRPr>
            </a:pPr>
            <a:r>
              <a:t>As telas ilustram o fluxo documentado e podem variar conforme a versão do ambiente.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de Homologação | Diário Oficial do CGIBS</dc:title>
  <dc:subject>Gestão de Legislação — OS 020/2026</dc:subject>
  <dc:creator>EloGroup</dc:creator>
  <cp:keywords>CGIBS, Diário Oficial, homologação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